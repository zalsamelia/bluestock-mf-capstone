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FED"/>
              </a:solidFill>
              <a:effectLst/>
            </c:spPr>
          </c:dPt>
          <c:dPt>
            <c:idx val="1"/>
            <c:bubble3D val="0"/>
            <c:spPr>
              <a:solidFill>
                <a:srgbClr val="13315C"/>
              </a:solidFill>
              <a:effectLst/>
            </c:spPr>
          </c:dPt>
          <c:dPt>
            <c:idx val="2"/>
            <c:bubble3D val="0"/>
            <c:spPr>
              <a:solidFill>
                <a:srgbClr val="7FA8E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Lumpsum (58.5%)</c:v>
                </c:pt>
                <c:pt idx="1">
                  <c:v>Redemption (35.3%)</c:v>
                </c:pt>
                <c:pt idx="2">
                  <c:v>SIP (6.2%)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58.49</c:v>
                </c:pt>
                <c:pt idx="1">
                  <c:v>35.34</c:v>
                </c:pt>
                <c:pt idx="2">
                  <c:v>6.17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0243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SIP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4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56+</c:v>
                  </c:pt>
                  <c:pt idx="1">
                    <c:v>46-55</c:v>
                  </c:pt>
                  <c:pt idx="2">
                    <c:v>26-35</c:v>
                  </c:pt>
                  <c:pt idx="3">
                    <c:v>18-25</c:v>
                  </c:pt>
                  <c:pt idx="4">
                    <c:v>36-45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024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937760"/>
            <a:ext cx="4572000" cy="4572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Dashboard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Project — Data Analyst Internship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Zalsabilah Amelia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Dashboard | Data Analyst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2883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86400" cy="4663440"/>
          </a:xfrm>
          <a:prstGeom prst="rect">
            <a:avLst/>
          </a:prstGeom>
          <a:solidFill>
            <a:srgbClr val="EEF4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Matters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mutual fund industry has grown steadily in scale and investor participation, making it harder to track performance and behavior through spreadsheets alone.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and internal stakeholders need consolidated, comparable insight — not raw numbers scattered across scheme-level reports.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decision-making depends on having risk, return, and behavioral data in one place, refreshed and filterable on demand.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scoped to turn that need into a working, interactive dashboard rather than another static report.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965960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19293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mutual fund ecosystem at an industry level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2724912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26883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fund performance on a risk-adjusted basis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34838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34472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investor behavior and transaction patterns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4242816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42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SIP and market trend movements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5001768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5001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03720" y="49651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interactive, filterable Power BI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Preparation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Dashboard | Data Analyst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2883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Used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master data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information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 data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data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fund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Notes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5285232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as CSV files, staged before transformation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into a SQLite database for structured querying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standardized prior to modeling in Power BI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1031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1A1A1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10312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9560" y="2528316"/>
            <a:ext cx="411480" cy="201168"/>
          </a:xfrm>
          <a:prstGeom prst="rightArrow">
            <a:avLst/>
          </a:prstGeom>
          <a:solidFill>
            <a:srgbClr val="D7E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21031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2F6FED"/>
          </a:solidFill>
          <a:ln/>
          <a:effectLst>
            <a:outerShdw sx="100000" sy="100000" kx="0" ky="0" algn="bl" rotWithShape="0" blurRad="76200" dist="25400" dir="5400000">
              <a:srgbClr val="1A1A1A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210312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12680" y="2528316"/>
            <a:ext cx="411480" cy="201168"/>
          </a:xfrm>
          <a:prstGeom prst="rightArrow">
            <a:avLst/>
          </a:prstGeom>
          <a:solidFill>
            <a:srgbClr val="D7E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69880" y="210312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1A1A1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469880" y="210312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exports move through preprocessing before landing in a queryable SQLite store — the foundation the Power BI model is built 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47548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— standardized category and fund-house naming, numeric-format consistency, and validation of transaction ranges — were applied before any table was connected to the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ETL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Dashboard | Data Analyst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2883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1A1A1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4173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CSV exports &amp; application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42616" y="2093976"/>
            <a:ext cx="201168" cy="132588"/>
          </a:xfrm>
          <a:prstGeom prst="downArrow">
            <a:avLst/>
          </a:prstGeom>
          <a:solidFill>
            <a:srgbClr val="DCE4E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44852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63500" dist="25400" dir="5400000">
              <a:srgbClr val="1A1A1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24485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extraction &amp; processing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42616" y="2921508"/>
            <a:ext cx="201168" cy="132588"/>
          </a:xfrm>
          <a:prstGeom prst="downArrow">
            <a:avLst/>
          </a:prstGeom>
          <a:solidFill>
            <a:srgbClr val="DCE4E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072384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1A1A1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07238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&amp; validation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42616" y="3749040"/>
            <a:ext cx="201168" cy="132588"/>
          </a:xfrm>
          <a:prstGeom prst="downArrow">
            <a:avLst/>
          </a:prstGeom>
          <a:solidFill>
            <a:srgbClr val="DCE4E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899916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63500" dist="25400" dir="5400000">
              <a:srgbClr val="1A1A1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89991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queryable storage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42616" y="4576572"/>
            <a:ext cx="201168" cy="132588"/>
          </a:xfrm>
          <a:prstGeom prst="downArrow">
            <a:avLst/>
          </a:prstGeom>
          <a:solidFill>
            <a:srgbClr val="DCE4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727448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63500" dist="25400" dir="5400000">
              <a:srgbClr val="1A1A1A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72744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Modeling, KPIs &amp; visuals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42616" y="5404104"/>
            <a:ext cx="201168" cy="132588"/>
          </a:xfrm>
          <a:prstGeom prst="downArrow">
            <a:avLst/>
          </a:prstGeom>
          <a:solidFill>
            <a:srgbClr val="DCE4E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55498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2F6FED"/>
          </a:solidFill>
          <a:ln/>
          <a:effectLst>
            <a:outerShdw sx="100000" sy="100000" kx="0" ky="0" algn="bl" rotWithShape="0" blurRad="63500" dist="25400" dir="5400000">
              <a:srgbClr val="1A1A1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55549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performance &amp; decisions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49240" y="1417320"/>
            <a:ext cx="6309360" cy="4709160"/>
          </a:xfrm>
          <a:prstGeom prst="rect">
            <a:avLst/>
          </a:prstGeom>
          <a:solidFill>
            <a:srgbClr val="EEF4FD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16276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Pipeline Works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23560" y="2057400"/>
            <a:ext cx="5760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pulled from source files and application records — the starting point for every downstream step.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ETL layer handles extraction and orchestrates the movement of data between stages.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validates formats, standardizes naming (fund house, category) and removes inconsistencies before data is trusted.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is loaded into a SQLite database, giving the project a single structured source of truth.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connects to this database to build the data model, KPIs, and the four dashboard pages.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feeds directly into business insights — investment trends, performance monitoring, and decision support.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Findings — Industry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Dashboard | Data Analyst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2883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8056" y="1453896"/>
            <a:ext cx="6099048" cy="3469765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18000"/>
              </a:srgbClr>
            </a:outerShdw>
          </a:effectLst>
        </p:spPr>
      </p:sp>
      <p:pic>
        <p:nvPicPr>
          <p:cNvPr id="8" name="Image 0" descr="/mnt/user-data/uploads/Industry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989320" cy="33600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941949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 dashboard page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0" y="1508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Observations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0" y="196596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 stands at ₹10.44L Cr across 40 active schemes — a mature, sizeable industry base.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of ₹9.40K Cr confirm systematic investing is a meaningful, recurring contributor to industry assets.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investor folios reflect a broad, though not yet mass-market, base of active participants.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has held a stable band across FY2022–2025, without sharp swings in the trend shown.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size across the top five AMCs is closely clustered, led by Nippon India MF, pointing to a competitive rather than dominated landscape.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Findings — Fund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Dashboard | Data Analyst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2883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8056" y="1453896"/>
            <a:ext cx="6099048" cy="3443473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18000"/>
              </a:srgbClr>
            </a:outerShdw>
          </a:effectLst>
        </p:spPr>
      </p:sp>
      <p:pic>
        <p:nvPicPr>
          <p:cNvPr id="8" name="Image 0" descr="/mnt/user-data/uploads/Fund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989320" cy="33337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915657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dashboard page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0" y="1508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Insights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0" y="196596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return move together: categories with wider return dispersion in the bubble chart also sit further out on the risk axis.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and Mid Cap funds lead on returns — Nippon India Small Cap and UTI Mid Cap post the strongest 3-year returns, both at High/Very High risk grade.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Top 100 Equity Fund is the outlier on the safer side, with the most moderate risk grade and the lowest 3-year return of the five funds shown.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vs Benchmark tracking lets any fund's trajectory be checked against the Nifty 50 directly on the same page.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Dashboard | Data Analyst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2883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1463040"/>
                <a:gridCol w="1463040"/>
                <a:gridCol w="160020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Fund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1Y Ret. %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3Y Ret. %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 Grade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UTI Mid Cap Fund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Mid Cap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163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1561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82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Nippon India Small Cap Fund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Small Cap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213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2015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81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Mirae Asset Emerging Bluechip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Large &amp; Mid Cap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1491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1456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Mod. High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91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Kotak Emerging Equity Fund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Mid Cap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1712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1823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96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DSP Top 100 Equity Fund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Large Cap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1196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1282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</a:rPr>
                        <a:t>92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977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Business-Oriented Interpretation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438912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comparison: Nippon India Small Cap Fund posts the highest 3-year return (2015%) of the five funds tracked, followed by Kotak Emerging Equity Fund (1823%).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comparison: the strongest returns come with High or Very High risk grades — none of the top performers sit in a low-risk category.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risk-adjusted profile: Kotak Emerging Equity Fund shows the highest Sharpe ratio (96) in the scorecard, indicating efficient return relative to risk taken.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category overall: Mid Cap and Small Cap funds dominate the top of the return table, while Large Cap (DSP Top 100) remains the steadiest, lower-return option.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Behavior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Dashboard | Data Analyst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2883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Type Distribution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82880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800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SIP by Age Group (₹, thousands)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02920" y="5120640"/>
          <a:ext cx="512064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989320" y="14630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Commentary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989320" y="192024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Lumpsum dominates transaction value: 58.49% of transactions are lumpsum, well ahead of redemptions (35.34%) and SIP (6.17%).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participation is steady across age groups: average SIP value stays close to ₹11K–12K regardless of age bracket, with the 56+ group marginally highest.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by state is closely spread: Punjab and Tamil Nadu lead, but the top eight states sit within a narrow ₹0.29bn–0.32bn range — no single region dominates.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 volume fluctuates between roughly ₹180M and ₹240M from early 2024 through mid-2025, without a clear seasonal spike.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989320" y="534924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and demographic patterns together suggest SIP is a habit distributed broadly across investor segments, while lumpsum activity is what currently drives transaction value.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 — Pages 1 &amp;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Dashboard | Data Analyst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2883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8056" y="1453896"/>
            <a:ext cx="5321808" cy="303373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18000"/>
              </a:srgbClr>
            </a:outerShdw>
          </a:effectLst>
        </p:spPr>
      </p:sp>
      <p:pic>
        <p:nvPicPr>
          <p:cNvPr id="8" name="Image 0" descr="/mnt/user-data/uploads/Industry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212080" cy="29240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08776" y="1453896"/>
            <a:ext cx="5321808" cy="3010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18000"/>
              </a:srgbClr>
            </a:outerShdw>
          </a:effectLst>
        </p:spPr>
      </p:sp>
      <p:pic>
        <p:nvPicPr>
          <p:cNvPr id="10" name="Image 1" descr="/mnt/user-data/uploads/Fund_Perform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212080" cy="29011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4752802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top-level snapshot of industry scale — AUM, SIP inflows, folios and schemes — so any viewer starts from the same baseline before drilling into individual funds.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63640" y="4752802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users filter by Fund House, Category and Plan to compare funds on return, risk grade and risk-adjusted ratios side by side.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 — Pages 3 &amp; 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Dashboard | Data Analyst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2883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8056" y="1453896"/>
            <a:ext cx="5321808" cy="303765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18000"/>
              </a:srgbClr>
            </a:outerShdw>
          </a:effectLst>
        </p:spPr>
      </p:sp>
      <p:pic>
        <p:nvPicPr>
          <p:cNvPr id="8" name="Image 0" descr="/mnt/user-data/uploads/Investor_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212080" cy="292792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08776" y="1453896"/>
            <a:ext cx="5321808" cy="306759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18000"/>
              </a:srgbClr>
            </a:outerShdw>
          </a:effectLst>
        </p:spPr>
      </p:sp>
      <p:pic>
        <p:nvPicPr>
          <p:cNvPr id="10" name="Image 1" descr="/mnt/user-data/uploads/SIP_Market_Tr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212080" cy="29578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4756726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State, Age Group and City Tier to reveal transaction patterns, transaction type mix, and monthly volume trends.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63640" y="4756726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SIP inflows against the Nifty 50 and surfaces which fund categories are drawing the strongest net inflow in FY25.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06240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Dashboard | Data Analyst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2883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5486400" cy="4709160"/>
          </a:xfrm>
          <a:prstGeom prst="rect">
            <a:avLst/>
          </a:prstGeom>
          <a:solidFill>
            <a:srgbClr val="EEF4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64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assets (₹10.44L Cr) are fairly evenly spread across the top five AMCs, not concentrated in one player.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returns consistently track with higher risk grades — Small Cap and Mid Cap funds lead returns and risk alike.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Lumpsum transactions drive the majority of transaction value (58.49%), while SIP participation remains steady across all age groups.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Sectoral/Thematic funds lead FY25 net inflow, ahead of Mid Cap and Small Cap — a clear tilt toward growth categories.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440680" cy="47091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64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10312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or near-live data feeds to keep AUM and SIP trend figures current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analytics for SIP inflow and AUM forecasting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more granular investor segmentation beyond state, age and city tier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automated alerts for sharp shifts in SIP inflows or fund risk grade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benchmarking beyond Nifty 50 to additional market indices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19456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389120"/>
            <a:ext cx="5029200" cy="5029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5146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Zalsabilah Amelia   |   Data Analyst Intern   |   Bluestock Fintech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Bluestock Fintech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Dashboard</dc:title>
  <dc:subject>PptxGenJS Presentation</dc:subject>
  <dc:creator>Zalsabilah Amelia</dc:creator>
  <cp:lastModifiedBy>Zalsabilah Amelia</cp:lastModifiedBy>
  <cp:revision>1</cp:revision>
  <dcterms:created xsi:type="dcterms:W3CDTF">2026-08-21T10:14:34Z</dcterms:created>
  <dcterms:modified xsi:type="dcterms:W3CDTF">2026-08-21T10:14:34Z</dcterms:modified>
</cp:coreProperties>
</file>